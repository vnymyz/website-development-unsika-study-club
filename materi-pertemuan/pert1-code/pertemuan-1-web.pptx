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99855" y="3749040"/>
            <a:ext cx="3840480" cy="3840480"/>
          </a:xfrm>
          <a:prstGeom prst="ellipse">
            <a:avLst/>
          </a:prstGeom>
          <a:solidFill>
            <a:srgbClr val="7C947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14255" y="4572000"/>
            <a:ext cx="2743200" cy="2743200"/>
          </a:xfrm>
          <a:prstGeom prst="ellipse">
            <a:avLst/>
          </a:prstGeom>
          <a:solidFill>
            <a:srgbClr val="B7C9A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20095" y="5486400"/>
            <a:ext cx="1554480" cy="1554480"/>
          </a:xfrm>
          <a:prstGeom prst="ellipse">
            <a:avLst/>
          </a:prstGeom>
          <a:solidFill>
            <a:srgbClr val="C9A6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280160" y="-1463040"/>
            <a:ext cx="2926080" cy="2926080"/>
          </a:xfrm>
          <a:prstGeom prst="ellipse">
            <a:avLst/>
          </a:prstGeom>
          <a:solidFill>
            <a:srgbClr val="7C9473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66B"/>
                </a:solidFill>
                <a:latin typeface="Calibri"/>
              </a:rPr>
              <a:t>HALTEV STUDY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Poppins"/>
              </a:rPr>
              <a:t>WEBSITE UNSIKA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137160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0">
                <a:solidFill>
                  <a:srgbClr val="F6F3E7"/>
                </a:solidFill>
                <a:latin typeface="Calibri"/>
              </a:rPr>
              <a:t>Pertemuan 1 — Fondasi Web &amp;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B7C9A8"/>
                </a:solidFill>
                <a:latin typeface="Calibri"/>
              </a:rPr>
              <a:t>Studi Kasus: Katalog UMKM Karawang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0E27FD-89E5-8541-CD1B-265275325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85" y="2807970"/>
            <a:ext cx="40386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3422B"/>
                </a:solidFill>
                <a:latin typeface="Poppins"/>
              </a:rPr>
              <a:t>Gambaran Sesi 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0">
                <a:solidFill>
                  <a:srgbClr val="5A6652"/>
                </a:solidFill>
                <a:latin typeface="Calibri"/>
              </a:rPr>
              <a:t>Durasi: 19.30–21.00 WIB   •   Tools: VS Code, ekstensi Live Server, browser (Chrome/Edge)   •   Output: Peserta dapat menjalankan proyek web lokal dan membuat halaman HTML multi-section untuk katalog UMKM.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7C9473"/>
                </a:solidFill>
              </a:rPr>
              <a:t>●  </a:t>
            </a:r>
            <a:r>
              <a:rPr sz="1700">
                <a:solidFill>
                  <a:srgbClr val="33422B"/>
                </a:solidFill>
                <a:latin typeface="Calibri"/>
              </a:rPr>
              <a:t>Tujuan belajar: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7C9473"/>
                </a:solidFill>
              </a:rPr>
              <a:t>●  </a:t>
            </a:r>
            <a:r>
              <a:rPr sz="1700">
                <a:solidFill>
                  <a:srgbClr val="33422B"/>
                </a:solidFill>
                <a:latin typeface="Calibri"/>
              </a:rPr>
              <a:t>    Memahami apa itu website dan bagaimana browser menampilkannya.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7C9473"/>
                </a:solidFill>
              </a:rPr>
              <a:t>●  </a:t>
            </a:r>
            <a:r>
              <a:rPr sz="1700">
                <a:solidFill>
                  <a:srgbClr val="33422B"/>
                </a:solidFill>
                <a:latin typeface="Calibri"/>
              </a:rPr>
              <a:t>    Memahami peran HTML, CSS, dan JavaScript dalam sebuah halaman web.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7C9473"/>
                </a:solidFill>
              </a:rPr>
              <a:t>●  </a:t>
            </a:r>
            <a:r>
              <a:rPr sz="1700">
                <a:solidFill>
                  <a:srgbClr val="33422B"/>
                </a:solidFill>
                <a:latin typeface="Calibri"/>
              </a:rPr>
              <a:t>    Menulis struktur HTML yang benar memakai tag semantik.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7C9473"/>
                </a:solidFill>
              </a:rPr>
              <a:t>●  </a:t>
            </a:r>
            <a:r>
              <a:rPr sz="1700">
                <a:solidFill>
                  <a:srgbClr val="33422B"/>
                </a:solidFill>
                <a:latin typeface="Calibri"/>
              </a:rPr>
              <a:t>    Membuat form input sederhana.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7C9473"/>
                </a:solidFill>
              </a:rPr>
              <a:t>●  </a:t>
            </a:r>
            <a:r>
              <a:rPr sz="1700">
                <a:solidFill>
                  <a:srgbClr val="33422B"/>
                </a:solidFill>
                <a:latin typeface="Calibri"/>
              </a:rPr>
              <a:t>    Menjalankan proyek secara lokal memakai VS Code dan Live Server.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bahan presentasi, detail lengkap ada di 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3422B"/>
                </a:solidFill>
                <a:latin typeface="Poppins"/>
              </a:rPr>
              <a:t>Rundown Sesi 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1153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Waktu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Aktivitas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19.30–19.40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Pembukaan, ice breaking: "Website apa yang paling sering ka…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19.40–19.55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Teori: cara kerja website, client-server, peran HTML/CSS/JS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19.55–20.10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Setup VS Code + Live Server, membuat proyek pertama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20.10–20.45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Hands-on: menulis struktur HTML katalog UMKM section demi s…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20.45–20.55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Latihan: menambahkan form kontak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20.55–21.00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Rangkuman dan pengantar kuis 1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Apa itu website?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Website adalah kumpulan halaman yang bisa dibuka lewat browser (Chrome, Edge, Firefox). Halaman itu berisi teks, gambar, tombol, dan bisa diklik-klik.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Website berbeda dengan aplikasi desktop biasa: website hidup di internet, bukan di-install di kompu…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Untuk membuat tampilannya, kita menulis kode yang dimengerti browser: HTML, CSS, dan JavaScript.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Semua website besar (Tokopedia, Instagram, Gojek) pada dasarnya dibangun dari tiga bahan ini, hanya…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A6652"/>
                </a:solidFill>
                <a:latin typeface="Calibri"/>
              </a:rPr>
              <a:t>🖼  Tambahkan gambar: tangkapan layar sebuah website sederhana dengan anotasi "ini HTML", "ini CSS", "ini JavaScript".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Client dan server: analogi warung makan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Bayangkan kamu makan di warung: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Kamu (pembeli) memesan makanan → ini seperti client (browser kamu) yang meminta halaman web.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Warung (penjual) menyiapkan makanan lalu mengantar ke mejamu → ini seperti server, komputer yang me…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Prosesnya berulang: kamu pesan lagi, warung siapkan lagi.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Client: perangkat yang kamu pakai untuk membuka website (laptop, HP) lewat browser.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Server: komputer lain (biasanya di data center) yang menyimpan file website dan mengirimkannya saat…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734056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109728" rtlCol="0" anchor="ctr"/>
          <a:lstStyle/>
          <a:p>
            <a:pPr algn="ctr"/>
            <a:r>
              <a:rPr sz="1300" dirty="0">
                <a:solidFill>
                  <a:srgbClr val="DCEFD1"/>
                </a:solidFill>
                <a:latin typeface="Consolas"/>
              </a:rPr>
              <a:t>Browser (client)  --- "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tolong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kirim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halaman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ini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" ---&gt;  Server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Browser (client)  &lt;---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kirim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balik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HTML/CSS/JS  ------ 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A6652"/>
                </a:solidFill>
                <a:latin typeface="Calibri"/>
              </a:rPr>
              <a:t>🖼  Tambahkan gambar: diagram panah bolak-balik Browser &lt;-&gt; Server dengan label "request" dan "response".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Peran HTML, CSS, dan JavaScript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Analogi tubuh manusia sederhana: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9456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Bahasa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Analogi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Fungsi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HTML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Kerangka/tulang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Menentukan struktur dan isi halaman: judul, paragraf, tombo…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CSS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Baju dan riasan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Menentukan tampilan: warna, ukuran, jarak, tata letak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JavaScript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Otot dan gerakan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Menentukan interaksi: tombol diklik, data berubah, muncul n…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42C9D-97AF-B8AC-C190-658CEA10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81B93F-6675-6D2E-A4CB-1B0775068D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14861-C309-4200-78D3-FD6A9B79B5C9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1498A-C85D-2A41-CAA4-C2F0B9C05912}"/>
              </a:ext>
            </a:extLst>
          </p:cNvPr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9F251-1C18-3CA8-2FBA-3694C81E8C35}"/>
              </a:ext>
            </a:extLst>
          </p:cNvPr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Peran HTML, CSS, dan JavaScript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D0BC61-6FE0-7867-8D5B-567B2426662F}"/>
              </a:ext>
            </a:extLst>
          </p:cNvPr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01E6D-5876-00DD-C899-78DCF84C64F4}"/>
              </a:ext>
            </a:extLst>
          </p:cNvPr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4CA51-DE8E-F3E4-2510-551878AA494E}"/>
              </a:ext>
            </a:extLst>
          </p:cNvPr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90FCA-205E-DE2B-5B03-B3F685028522}"/>
              </a:ext>
            </a:extLst>
          </p:cNvPr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AAE59F-8F73-2F57-D5B9-A0274F001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07" y="1558298"/>
            <a:ext cx="10351986" cy="44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3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Struktur dasar dokumen 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Setiap file HTML punya kerangka wajib: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&lt;!DOCTYPE html&gt; — memberi tahu browser bahwa file ini HTML versi terbaru (HTML5).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&lt;html lang="id"&gt; — pembungkus seluruh halaman; lang="id" menandai bahasa Indonesia.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&lt;head&gt; — bagian "belakang layar": judul tab, pengaturan karakter, tautan ke file CSS (nanti). Tidak…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&lt;meta charset="UTF-8"&gt; — memastikan karakter seperti huruf é atau simbol Rp tampil benar.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&lt;title&gt; — teks yang muncul di tab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8887" y="2093977"/>
            <a:ext cx="4480560" cy="2194559"/>
          </a:xfrm>
          <a:prstGeom prst="roundRect">
            <a:avLst>
              <a:gd name="adj" fmla="val 6000"/>
            </a:avLst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109728" rtlCol="0" anchor="ctr"/>
          <a:lstStyle/>
          <a:p>
            <a:pPr algn="ctr"/>
            <a:r>
              <a:rPr sz="1300" dirty="0">
                <a:solidFill>
                  <a:srgbClr val="DCEFD1"/>
                </a:solidFill>
                <a:latin typeface="Consolas"/>
              </a:rPr>
              <a:t>&lt;!DOCTYPE html&gt;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&lt;html lang="id"&gt;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&lt;head&gt;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&lt;meta charset="UTF-8"&gt;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&lt;title&gt;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Judul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Tab Browser&lt;/title&gt;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&lt;/head&gt;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Tag semantik: memberi nama pada setiap bagian halaman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"Semantik" artinya nama tag menjelaskan arti/fungsi bagian itu, bukan cuma tampilannya. Ini memudahkan browser, mesin pencari, dan sesama developer memahami struktur halaman.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9456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Tag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Fungsi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&lt;header&gt;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Bagian atas halaman: logo, judul, menu navigasi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&lt;nav&gt;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Kumpulan link navigasi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&lt;main&gt;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Konten utama halaman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&lt;section&gt;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Satu kelompok konten dengan tema tertentu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&lt;footer&gt;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Bagian bawah halaman: hak cipta, kontak, sosial media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343" y="2409445"/>
            <a:ext cx="4480560" cy="2194559"/>
          </a:xfrm>
          <a:prstGeom prst="roundRect">
            <a:avLst>
              <a:gd name="adj" fmla="val 6000"/>
            </a:avLst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109728" rtlCol="0" anchor="ctr"/>
          <a:lstStyle/>
          <a:p>
            <a:r>
              <a:rPr sz="1300" dirty="0">
                <a:solidFill>
                  <a:srgbClr val="DCEFD1"/>
                </a:solidFill>
                <a:latin typeface="Consolas"/>
              </a:rPr>
              <a:t>&lt;header&gt;  → Logo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Katalog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UMKM + menu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&lt;main&gt;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&lt;section&gt; → Daftar UMKM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&lt;section&gt; →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Tentang</a:t>
            </a:r>
            <a:endParaRPr sz="1300" dirty="0">
              <a:solidFill>
                <a:srgbClr val="DCEFD1"/>
              </a:solidFill>
              <a:latin typeface="Consolas"/>
            </a:endParaRP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&lt;section&gt; → Kontak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&lt;/main&gt;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A6652"/>
                </a:solidFill>
                <a:latin typeface="Calibri"/>
              </a:rPr>
              <a:t>🖼  Tambahkan gambar: kotak-kotak bertumpuk melambangkan header, main (berisi 3 section), footer.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Tag umum untuk isi konten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Heading: &lt;h1&gt; sampai &lt;h6&gt; — judul dan sub-judul, urut dari paling penting (h1) ke paling kecil.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Paragraf: &lt;p&gt; — teks biasa.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List: &lt;ul&gt; (list tanpa urutan) dan &lt;ol&gt; (list berurutan), isinya &lt;li&gt; per item.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Gambar: &lt;img src="alamat-gambar.jpg" alt="deskripsi gambar"&gt;.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Link: &lt;a href="alamat-tujuan"&gt;teks link&lt;/a&gt;.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4648"/>
            <a:ext cx="4480560" cy="2194559"/>
          </a:xfrm>
          <a:prstGeom prst="roundRect">
            <a:avLst>
              <a:gd name="adj" fmla="val 6000"/>
            </a:avLst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109728" rtlCol="0" anchor="ctr"/>
          <a:lstStyle/>
          <a:p>
            <a:r>
              <a:rPr sz="1300" dirty="0">
                <a:solidFill>
                  <a:srgbClr val="DCEFD1"/>
                </a:solidFill>
                <a:latin typeface="Consolas"/>
              </a:rPr>
              <a:t>&lt;h1&gt;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Katalog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UMKM Karawang&lt;/h1&gt;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&lt;p&gt;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Temukan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usaha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lokal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terbaik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di Karawang.&lt;/p&gt;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&lt;ul&gt;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&lt;li&gt;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Kuliner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&lt;/li&gt;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&lt;li&gt;Fashion&lt;/li&gt;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&lt;li&gt;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Kerajinan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&lt;/li&gt;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Form: mengumpulkan input dari pengguna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Form dipakai saat pengguna perlu mengetik atau memilih sesuatu, misalnya form kontak atau form login (dipakai lagi di pertemuan 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&lt;label&gt; — teks penjelas untuk input, for harus sama dengan id input agar saling terhubung (klik lab…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&lt;input type="text"&gt; — kotak isian satu baris.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&lt;textarea&gt; — kotak isian banyak baris.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9473"/>
                </a:solidFill>
              </a:rPr>
              <a:t>●  </a:t>
            </a:r>
            <a:r>
              <a:rPr sz="1600">
                <a:solidFill>
                  <a:srgbClr val="33422B"/>
                </a:solidFill>
                <a:latin typeface="Calibri"/>
              </a:rPr>
              <a:t>&lt;button type="submit"&gt; — tombol untuk mengirim form. Belum berfungsi mengirim data ke mana pun samp…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17320"/>
            <a:ext cx="4480560" cy="2194559"/>
          </a:xfrm>
          <a:prstGeom prst="roundRect">
            <a:avLst>
              <a:gd name="adj" fmla="val 6000"/>
            </a:avLst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109728" rtlCol="0" anchor="ctr"/>
          <a:lstStyle/>
          <a:p>
            <a:r>
              <a:rPr sz="1300" dirty="0">
                <a:solidFill>
                  <a:srgbClr val="DCEFD1"/>
                </a:solidFill>
                <a:latin typeface="Consolas"/>
              </a:rPr>
              <a:t>&lt;form&gt;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&lt;label for="nama"&gt;Nama&lt;/label&gt;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&lt;input type="text" id="nama" name="nama" placeholder="Nama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kamu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"&gt;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&lt;label for="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pesan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"&gt;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Pesan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&lt;/label&gt;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textarea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 id="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pesan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" name="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pesan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" placeholder="Tulis 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pesan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..."&gt;&lt;/</a:t>
            </a:r>
            <a:r>
              <a:rPr sz="1300" dirty="0" err="1">
                <a:solidFill>
                  <a:srgbClr val="DCEFD1"/>
                </a:solidFill>
                <a:latin typeface="Consolas"/>
              </a:rPr>
              <a:t>textarea</a:t>
            </a:r>
            <a:r>
              <a:rPr sz="1300" dirty="0">
                <a:solidFill>
                  <a:srgbClr val="DCEFD1"/>
                </a:solidFill>
                <a:latin typeface="Consolas"/>
              </a:rPr>
              <a:t>&gt;</a:t>
            </a:r>
          </a:p>
          <a:p>
            <a:r>
              <a:rPr sz="1300" dirty="0">
                <a:solidFill>
                  <a:srgbClr val="DCEFD1"/>
                </a:solidFill>
                <a:latin typeface="Consolas"/>
              </a:rPr>
              <a:t>&lt;button type="submit"&gt;Kirim&lt;/button&gt;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TEORI — 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Tools yang Dibutuhkan Hari 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0">
                <a:solidFill>
                  <a:srgbClr val="33422B"/>
                </a:solidFill>
                <a:latin typeface="Calibri"/>
              </a:rPr>
              <a:t>Sebelum mulai ngoding, siapkan tiga hal ini dulu di laptop kamu.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1" y="2194560"/>
            <a:ext cx="1043940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7C9473"/>
                </a:solidFill>
              </a:rPr>
              <a:t>●  </a:t>
            </a:r>
            <a:r>
              <a:rPr sz="1600" dirty="0">
                <a:solidFill>
                  <a:srgbClr val="33422B"/>
                </a:solidFill>
                <a:latin typeface="Calibri"/>
              </a:rPr>
              <a:t>VS Code —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unduh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di code.visualstudio.com/Download — editor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tempat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kita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menulis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semua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kode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HTML</a:t>
            </a:r>
            <a:r>
              <a:rPr lang="en-US" sz="1600" dirty="0">
                <a:solidFill>
                  <a:srgbClr val="33422B"/>
                </a:solidFill>
                <a:latin typeface="Calibri"/>
              </a:rPr>
              <a:t>.</a:t>
            </a:r>
            <a:endParaRPr sz="1600" dirty="0">
              <a:solidFill>
                <a:srgbClr val="33422B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7C9473"/>
                </a:solidFill>
              </a:rPr>
              <a:t>● 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Ekstensi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Live Server —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cari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lewat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marketplace.visualstudio.com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atau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langsung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dari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tab Extensions</a:t>
            </a:r>
            <a:r>
              <a:rPr lang="en-US" sz="1600" dirty="0">
                <a:solidFill>
                  <a:srgbClr val="33422B"/>
                </a:solidFill>
                <a:latin typeface="Calibri"/>
              </a:rPr>
              <a:t>.</a:t>
            </a:r>
            <a:endParaRPr sz="1600" dirty="0">
              <a:solidFill>
                <a:srgbClr val="33422B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7C9473"/>
                </a:solidFill>
              </a:rPr>
              <a:t>●  </a:t>
            </a:r>
            <a:r>
              <a:rPr sz="1600" dirty="0">
                <a:solidFill>
                  <a:srgbClr val="33422B"/>
                </a:solidFill>
                <a:latin typeface="Calibri"/>
              </a:rPr>
              <a:t>Browser modern — Chrome (google.com/chrome)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atau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Edge (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sudah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terpasang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3422B"/>
                </a:solidFill>
                <a:latin typeface="Calibri"/>
              </a:rPr>
              <a:t>bawaan</a:t>
            </a:r>
            <a:r>
              <a:rPr sz="1600" dirty="0">
                <a:solidFill>
                  <a:srgbClr val="33422B"/>
                </a:solidFill>
                <a:latin typeface="Calibri"/>
              </a:rPr>
              <a:t> di Windows)</a:t>
            </a:r>
            <a:r>
              <a:rPr lang="en-US" sz="1600" dirty="0">
                <a:solidFill>
                  <a:srgbClr val="33422B"/>
                </a:solidFill>
                <a:latin typeface="Calibri"/>
              </a:rPr>
              <a:t>.</a:t>
            </a:r>
            <a:endParaRPr sz="1600" dirty="0">
              <a:solidFill>
                <a:srgbClr val="33422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A6652"/>
                </a:solidFill>
                <a:latin typeface="Calibri"/>
              </a:rPr>
              <a:t>🖼  Tambahkan gambar: screenshot VS Code dengan panel Extensions terbuka, ekstensi Live Server ter-highlight.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Pertemuan 1 — Fondasi Web &amp;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9473"/>
                </a:solidFill>
                <a:latin typeface="Calibri"/>
              </a:rPr>
              <a:t>PERTEMUAN 1 — FONDASI WEB &amp;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422B"/>
                </a:solidFill>
                <a:latin typeface="Poppins"/>
              </a:rPr>
              <a:t>Rangkuman &amp; Istilah Penting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05840" cy="381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0">
                <a:solidFill>
                  <a:srgbClr val="33422B"/>
                </a:solidFill>
                <a:latin typeface="Calibri"/>
              </a:rPr>
              <a:t>Website terdiri dari HTML (struktur), CSS (tampilan), dan JavaScript (interaksi), dikirim dari server ke browser lewat mekanisme request-response. Hari ini kita fokus membangun struktur halaman dengan tag semantik. Minggu depan halaman ini akan dipercantik memakai CSS dan Tailwind, lalu disimpan versinya memakai Git d…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14600"/>
          <a:ext cx="1091153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Istilah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Artinya</a:t>
                      </a:r>
                    </a:p>
                  </a:txBody>
                  <a:tcPr marT="36576" marB="36576">
                    <a:solidFill>
                      <a:srgbClr val="334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Client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Perangkat/browser yang meminta halaman web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Server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Komputer yang menyimpan dan mengirimkan halaman web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Request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Permintaan dari client ke server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Response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Balasan dari server ke client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HTTP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Aturan/protokol komunikasi antara client dan server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Tag semantik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Calibri"/>
                        </a:defRPr>
                      </a:pPr>
                      <a:r>
                        <a:rPr sz="1300">
                          <a:solidFill>
                            <a:srgbClr val="33422B"/>
                          </a:solidFill>
                        </a:rPr>
                        <a:t>Tag HTML yang namanya menjelaskan fungsi bagian tersebut</a:t>
                      </a:r>
                    </a:p>
                  </a:txBody>
                  <a:tcPr marT="27432" marB="27432">
                    <a:solidFill>
                      <a:srgbClr val="E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652"/>
                </a:solidFill>
                <a:latin typeface="Calibri"/>
              </a:rPr>
              <a:t>Website UNSIKA — detail lengkap: README.md pertemuan 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9A6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73E8EE-17F6-0775-7CFE-D32B65C90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6" y="759990"/>
            <a:ext cx="10835148" cy="60980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41BDA0-744C-D96E-C81F-9B2AF06802A4}"/>
              </a:ext>
            </a:extLst>
          </p:cNvPr>
          <p:cNvSpPr/>
          <p:nvPr/>
        </p:nvSpPr>
        <p:spPr>
          <a:xfrm>
            <a:off x="4213118" y="4534474"/>
            <a:ext cx="622873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Thank You &lt;3</a:t>
            </a:r>
          </a:p>
        </p:txBody>
      </p:sp>
    </p:spTree>
    <p:extLst>
      <p:ext uri="{BB962C8B-B14F-4D97-AF65-F5344CB8AC3E}">
        <p14:creationId xmlns:p14="http://schemas.microsoft.com/office/powerpoint/2010/main" val="253670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1535</Words>
  <Application>Microsoft Office PowerPoint</Application>
  <PresentationFormat>Widescreen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Vanya Zura</cp:lastModifiedBy>
  <cp:revision>10</cp:revision>
  <dcterms:created xsi:type="dcterms:W3CDTF">2013-01-27T09:14:16Z</dcterms:created>
  <dcterms:modified xsi:type="dcterms:W3CDTF">2026-09-01T11:35:11Z</dcterms:modified>
  <cp:category/>
</cp:coreProperties>
</file>