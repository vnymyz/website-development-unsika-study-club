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-1234440"/>
            <a:ext cx="5120640" cy="5120640"/>
          </a:xfrm>
          <a:prstGeom prst="ellipse">
            <a:avLst/>
          </a:prstGeom>
          <a:solidFill>
            <a:srgbClr val="7C9473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108960"/>
            <a:ext cx="2926080" cy="2926080"/>
          </a:xfrm>
          <a:prstGeom prst="ellipse">
            <a:avLst/>
          </a:prstGeom>
          <a:solidFill>
            <a:srgbClr val="C9A66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89520" y="4480560"/>
            <a:ext cx="1371600" cy="1371600"/>
          </a:xfrm>
          <a:prstGeom prst="ellipse">
            <a:avLst/>
          </a:prstGeom>
          <a:solidFill>
            <a:srgbClr val="7C9473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spc="350">
                <a:solidFill>
                  <a:srgbClr val="C9A66B"/>
                </a:solidFill>
                <a:latin typeface="Calibri"/>
              </a:rPr>
              <a:t>HALTEV STUDY 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6F3E7"/>
                </a:solidFill>
                <a:latin typeface="Poppins"/>
              </a:rPr>
              <a:t>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61488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C9473"/>
                </a:solidFill>
                <a:latin typeface="Poppins"/>
              </a:rPr>
              <a:t>UNSIKA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77056"/>
            <a:ext cx="7132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7C9A8"/>
                </a:solidFill>
                <a:latin typeface="Calibri"/>
              </a:rPr>
              <a:t>Pertemuan 2 — CSS, Responsive Design &amp; Git/GitHub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230368"/>
            <a:ext cx="214884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30368"/>
            <a:ext cx="2148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B7C9A8"/>
                </a:solidFill>
                <a:latin typeface="Calibri"/>
              </a:rPr>
              <a:t>19.30–21.00 WIB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5230368"/>
            <a:ext cx="214884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5230368"/>
            <a:ext cx="2148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B7C9A8"/>
                </a:solidFill>
                <a:latin typeface="Calibri"/>
              </a:rPr>
              <a:t>VS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5230368"/>
            <a:ext cx="214884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5230368"/>
            <a:ext cx="2148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B7C9A8"/>
                </a:solidFill>
                <a:latin typeface="Calibri"/>
              </a:rPr>
              <a:t>Live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144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F8264"/>
                </a:solidFill>
                <a:latin typeface="Calibri"/>
              </a:rPr>
              <a:t>Tutor: Vanya Mayazura  ·  Software Engineer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PERTEMUAN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Gambaran Sesi 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63040"/>
            <a:ext cx="3977639" cy="8686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spc="150">
                <a:solidFill>
                  <a:srgbClr val="C9A66B"/>
                </a:solidFill>
                <a:latin typeface="Calibri"/>
              </a:rPr>
              <a:t>DURASI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6F3E7"/>
                </a:solidFill>
                <a:latin typeface="Calibri"/>
              </a:rPr>
              <a:t>19.30–21.00 WIB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450592"/>
            <a:ext cx="3977639" cy="8686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spc="150">
                <a:solidFill>
                  <a:srgbClr val="C9A66B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6F3E7"/>
                </a:solidFill>
                <a:latin typeface="Calibri"/>
              </a:rPr>
              <a:t>VS Code, Live Server, Git, 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438144"/>
            <a:ext cx="3977639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21024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spc="150">
                <a:solidFill>
                  <a:srgbClr val="C9A66B"/>
                </a:solidFill>
                <a:latin typeface="Calibri"/>
              </a:rPr>
              <a:t>OUTPUT SESI 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95344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Peserta dapat menata tampilan halaman dengan CSS yang responsif, serta (kalau sempat) menyimpan proyek di repository GitHub.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63040"/>
            <a:ext cx="6720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6F3E7"/>
                </a:solidFill>
                <a:latin typeface="Poppins"/>
              </a:rPr>
              <a:t>Tujuan Belajar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1975104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1956816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Memahami cara CSS menempel ke HTML dan cara kerja selector.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2770632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752344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Memahami box model dan tata letak Flexbox serta CSS Grid.</a:t>
            </a:r>
          </a:p>
        </p:txBody>
      </p:sp>
      <p:sp>
        <p:nvSpPr>
          <p:cNvPr id="18" name="Oval 17"/>
          <p:cNvSpPr/>
          <p:nvPr/>
        </p:nvSpPr>
        <p:spPr>
          <a:xfrm>
            <a:off x="4892040" y="3566160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3547872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Membuat halaman responsif dengan media query.</a:t>
            </a:r>
          </a:p>
        </p:txBody>
      </p:sp>
      <p:sp>
        <p:nvSpPr>
          <p:cNvPr id="20" name="Oval 19"/>
          <p:cNvSpPr/>
          <p:nvPr/>
        </p:nvSpPr>
        <p:spPr>
          <a:xfrm>
            <a:off x="4892040" y="4361688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4343400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Memahami kegunaan Git sebagai sistem versi.</a:t>
            </a:r>
          </a:p>
        </p:txBody>
      </p:sp>
      <p:sp>
        <p:nvSpPr>
          <p:cNvPr id="22" name="Oval 21"/>
          <p:cNvSpPr/>
          <p:nvPr/>
        </p:nvSpPr>
        <p:spPr>
          <a:xfrm>
            <a:off x="4892040" y="5157216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5138928"/>
            <a:ext cx="6071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7C9A8"/>
                </a:solidFill>
                <a:latin typeface="Calibri"/>
              </a:rPr>
              <a:t>Melakukan commit dan push pertama ke GitHub (kalau waktu masih cukup).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PERTEMUAN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Rundown Sesi 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2194560" cy="457200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spc="100">
                <a:solidFill>
                  <a:srgbClr val="C9A66B"/>
                </a:solidFill>
                <a:latin typeface="Calibri"/>
              </a:rPr>
              <a:t>WAKTU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1488" y="1536192"/>
            <a:ext cx="8860536" cy="457200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4368" y="1536192"/>
            <a:ext cx="85862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spc="100">
                <a:solidFill>
                  <a:srgbClr val="C9A66B"/>
                </a:solidFill>
                <a:latin typeface="Calibri"/>
              </a:rPr>
              <a:t>AKTIVITAS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93392"/>
            <a:ext cx="2194560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19.30–19.40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93392"/>
            <a:ext cx="8860536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9933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Pembukaan, ice breaking: "pernah nggak buka website yang berantakan di HP?"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50592"/>
            <a:ext cx="2194560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505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19.40–19.55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450592"/>
            <a:ext cx="8860536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4505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Teori: CSS, selector, box model, Flexbox,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07792"/>
            <a:ext cx="2194560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9077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19.55–20.15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2907792"/>
            <a:ext cx="8860536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4368" y="29077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Hands-on: styling halaman dengan CSS murni (box model, Flexbox, badge, hover)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64992"/>
            <a:ext cx="2194560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649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20.15–20.35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3364992"/>
            <a:ext cx="8860536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33649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Hands-on: media query + CSS Grid biar responsif dan tertata rapi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822192"/>
            <a:ext cx="2194560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8221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20.35–20.55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822192"/>
            <a:ext cx="8860536" cy="45720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4368" y="38221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Teori + hands-on: Git dan GitHub, push ke GitHub (kalau sempat)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279392"/>
            <a:ext cx="2194560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27939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6F3E7"/>
                </a:solidFill>
                <a:latin typeface="Calibri"/>
              </a:rPr>
              <a:t>20.55–21.00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61488" y="4279392"/>
            <a:ext cx="8860536" cy="457200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4279392"/>
            <a:ext cx="8540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alibri"/>
              </a:rPr>
              <a:t>Rangkuman dan pengantar kuis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Bagaimana CSS menempel ke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Ada tiga cara menghubungkan CSS ke HTML: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77393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175564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Inline</a:t>
            </a:r>
            <a:r>
              <a:rPr sz="1350">
                <a:solidFill>
                  <a:srgbClr val="B7C9A8"/>
                </a:solidFill>
                <a:latin typeface="Calibri"/>
              </a:rPr>
              <a:t> — ditulis langsung di atribut </a:t>
            </a:r>
            <a:r>
              <a:rPr sz="1250">
                <a:solidFill>
                  <a:srgbClr val="C9A66B"/>
                </a:solidFill>
                <a:latin typeface="Consolas"/>
              </a:rPr>
              <a:t>style</a:t>
            </a:r>
            <a:r>
              <a:rPr sz="1350">
                <a:solidFill>
                  <a:srgbClr val="B7C9A8"/>
                </a:solidFill>
                <a:latin typeface="Calibri"/>
              </a:rPr>
              <a:t> pada tag. Cepat tapi berantakan kalau dipakai banyak.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69464"/>
            <a:ext cx="11055096" cy="53035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69464"/>
            <a:ext cx="54864" cy="53035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79192"/>
            <a:ext cx="10597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   &lt;h1 style="color: blue;"&gt;Judul&lt;/h1&gt;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2461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2278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Internal</a:t>
            </a:r>
            <a:r>
              <a:rPr sz="1350">
                <a:solidFill>
                  <a:srgbClr val="B7C9A8"/>
                </a:solidFill>
                <a:latin typeface="Calibri"/>
              </a:rPr>
              <a:t> — ditulis dalam tag </a:t>
            </a:r>
            <a:r>
              <a:rPr sz="1250">
                <a:solidFill>
                  <a:srgbClr val="C9A66B"/>
                </a:solidFill>
                <a:latin typeface="Consolas"/>
              </a:rPr>
              <a:t>&lt;style&gt;</a:t>
            </a:r>
            <a:r>
              <a:rPr sz="1350">
                <a:solidFill>
                  <a:srgbClr val="B7C9A8"/>
                </a:solidFill>
                <a:latin typeface="Calibri"/>
              </a:rPr>
              <a:t> di bagian </a:t>
            </a:r>
            <a:r>
              <a:rPr sz="1250">
                <a:solidFill>
                  <a:srgbClr val="C9A66B"/>
                </a:solidFill>
                <a:latin typeface="Consolas"/>
              </a:rPr>
              <a:t>&lt;head&gt;</a:t>
            </a:r>
            <a:r>
              <a:rPr sz="1350">
                <a:solidFill>
                  <a:srgbClr val="B7C9A8"/>
                </a:solidFill>
                <a:latin typeface="Calibri"/>
              </a:rPr>
              <a:t>. Cocok untuk halaman kecil.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4164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402336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Eksternal</a:t>
            </a:r>
            <a:r>
              <a:rPr sz="1350">
                <a:solidFill>
                  <a:srgbClr val="B7C9A8"/>
                </a:solidFill>
                <a:latin typeface="Calibri"/>
              </a:rPr>
              <a:t> — ditulis di file terpisah </a:t>
            </a:r>
            <a:r>
              <a:rPr sz="1250">
                <a:solidFill>
                  <a:srgbClr val="C9A66B"/>
                </a:solidFill>
                <a:latin typeface="Consolas"/>
              </a:rPr>
              <a:t>style.css</a:t>
            </a:r>
            <a:r>
              <a:rPr sz="1350">
                <a:solidFill>
                  <a:srgbClr val="B7C9A8"/>
                </a:solidFill>
                <a:latin typeface="Calibri"/>
              </a:rPr>
              <a:t>, lalu dihubungkan lewat </a:t>
            </a:r>
            <a:r>
              <a:rPr sz="1250">
                <a:solidFill>
                  <a:srgbClr val="C9A66B"/>
                </a:solidFill>
                <a:latin typeface="Consolas"/>
              </a:rPr>
              <a:t>&lt;link&gt;</a:t>
            </a:r>
            <a:r>
              <a:rPr sz="1350">
                <a:solidFill>
                  <a:srgbClr val="B7C9A8"/>
                </a:solidFill>
                <a:latin typeface="Calibri"/>
              </a:rPr>
              <a:t>. </a:t>
            </a:r>
            <a:r>
              <a:rPr sz="1350" b="1">
                <a:solidFill>
                  <a:srgbClr val="F6F3E7"/>
                </a:solidFill>
                <a:latin typeface="Calibri"/>
              </a:rPr>
              <a:t>Ini yang kita pakai</a:t>
            </a:r>
            <a:r>
              <a:rPr sz="1350">
                <a:solidFill>
                  <a:srgbClr val="B7C9A8"/>
                </a:solidFill>
                <a:latin typeface="Calibri"/>
              </a:rPr>
              <a:t>, karena rapi dan bisa dipakai ulang di banyak halaman.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010912"/>
            <a:ext cx="11055096" cy="107899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010912"/>
            <a:ext cx="54864" cy="107899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9789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&lt;head&gt;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&lt;link rel="stylesheet" href="style.css"&gt;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&lt;/head&gt;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Bagaimana CSS menempel ke HTML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62456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35024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tiga kotak (inline, internal, eksternal) dengan tanda centang di eksternal.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2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Selector: memilih elemen mana yang mau distyle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CSS ditulis dengan pola: </a:t>
            </a:r>
            <a:r>
              <a:rPr sz="1350">
                <a:solidFill>
                  <a:srgbClr val="C9A66B"/>
                </a:solidFill>
                <a:latin typeface="Consolas"/>
              </a:rPr>
              <a:t>selector { properti: nilai; }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73936"/>
            <a:ext cx="128016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773936"/>
            <a:ext cx="1097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C9A66B"/>
                </a:solidFill>
                <a:latin typeface="Calibri"/>
              </a:rPr>
              <a:t>SELECTOR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7088" y="1773936"/>
            <a:ext cx="2377440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6816" y="1773936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C9A66B"/>
                </a:solidFill>
                <a:latin typeface="Calibri"/>
              </a:rPr>
              <a:t>CONTOH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1773936"/>
            <a:ext cx="7397496" cy="420624"/>
          </a:xfrm>
          <a:prstGeom prst="rect">
            <a:avLst/>
          </a:prstGeom>
          <a:solidFill>
            <a:srgbClr val="2A3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4256" y="1773936"/>
            <a:ext cx="72146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C9A66B"/>
                </a:solidFill>
                <a:latin typeface="Calibri"/>
              </a:rPr>
              <a:t>KEGUNAAN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280160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194560"/>
            <a:ext cx="1097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6F3E7"/>
                </a:solidFill>
                <a:latin typeface="Calibri"/>
              </a:rPr>
              <a:t>Tag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7088" y="2194560"/>
            <a:ext cx="2377440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56816" y="2194560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p {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194560"/>
            <a:ext cx="7397496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194560"/>
            <a:ext cx="72146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Semua tag &lt;p&gt; di halaman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15184"/>
            <a:ext cx="1280160" cy="420624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615184"/>
            <a:ext cx="1097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6F3E7"/>
                </a:solidFill>
                <a:latin typeface="Calibri"/>
              </a:rPr>
              <a:t>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7088" y="2615184"/>
            <a:ext cx="2377440" cy="420624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56816" y="2615184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.kartu { 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2615184"/>
            <a:ext cx="7397496" cy="420624"/>
          </a:xfrm>
          <a:prstGeom prst="rect">
            <a:avLst/>
          </a:prstGeom>
          <a:solidFill>
            <a:srgbClr val="1E2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2615184"/>
            <a:ext cx="72146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Semua elemen dengan class="kartu"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35808"/>
            <a:ext cx="1280160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035808"/>
            <a:ext cx="1097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6F3E7"/>
                </a:solidFill>
                <a:latin typeface="Calibri"/>
              </a:rPr>
              <a:t>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47088" y="3035808"/>
            <a:ext cx="2377440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6816" y="3035808"/>
            <a:ext cx="21945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#header { 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3035808"/>
            <a:ext cx="7397496" cy="420624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4256" y="3035808"/>
            <a:ext cx="72146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Elemen dengan id="header" (harus unik, cuma 1 per halaman)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621024"/>
            <a:ext cx="11055096" cy="24688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621024"/>
            <a:ext cx="54864" cy="246888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730752"/>
            <a:ext cx="105978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p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color: #333;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.kartu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background-color: white;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border-radius: 8px;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2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Selector: memilih elemen mana yang mau distyle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Aturan praktis: pakai </a:t>
            </a:r>
            <a:r>
              <a:rPr sz="1450" b="1">
                <a:solidFill>
                  <a:srgbClr val="F6F3E7"/>
                </a:solidFill>
                <a:latin typeface="Calibri"/>
              </a:rPr>
              <a:t>class</a:t>
            </a:r>
            <a:r>
              <a:rPr sz="1450">
                <a:solidFill>
                  <a:srgbClr val="F6F3E7"/>
                </a:solidFill>
                <a:latin typeface="Calibri"/>
              </a:rPr>
              <a:t> untuk sebagian besar styling (bisa dipakai berkali-kali), pakai </a:t>
            </a:r>
            <a:r>
              <a:rPr sz="1450" b="1">
                <a:solidFill>
                  <a:srgbClr val="F6F3E7"/>
                </a:solidFill>
                <a:latin typeface="Calibri"/>
              </a:rPr>
              <a:t>ID</a:t>
            </a:r>
            <a:r>
              <a:rPr sz="1450">
                <a:solidFill>
                  <a:srgbClr val="F6F3E7"/>
                </a:solidFill>
                <a:latin typeface="Calibri"/>
              </a:rPr>
              <a:t> untuk hal yang benar-benar unik.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3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Box Model: setiap elemen itu seperti kotak berbungkus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Analogi: bayangkan kamu mengirim barang lewat paket.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77393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175564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Content</a:t>
            </a:r>
            <a:r>
              <a:rPr sz="1350">
                <a:solidFill>
                  <a:srgbClr val="B7C9A8"/>
                </a:solidFill>
                <a:latin typeface="Calibri"/>
              </a:rPr>
              <a:t> — barangnya sendiri (teks/gambar).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6946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55117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Padding</a:t>
            </a:r>
            <a:r>
              <a:rPr sz="1350">
                <a:solidFill>
                  <a:srgbClr val="B7C9A8"/>
                </a:solidFill>
                <a:latin typeface="Calibri"/>
              </a:rPr>
              <a:t> — bantalan/bubble wrap di dalam kotak, jarak antara barang dan dinding kotak.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36499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34670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Border</a:t>
            </a:r>
            <a:r>
              <a:rPr sz="1350">
                <a:solidFill>
                  <a:srgbClr val="B7C9A8"/>
                </a:solidFill>
                <a:latin typeface="Calibri"/>
              </a:rPr>
              <a:t> — dinding kotaknya.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1605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1422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Margin</a:t>
            </a:r>
            <a:r>
              <a:rPr sz="1350">
                <a:solidFill>
                  <a:srgbClr val="B7C9A8"/>
                </a:solidFill>
                <a:latin typeface="Calibri"/>
              </a:rPr>
              <a:t> — jarak antara kotak ini dengan kotak lain di sebelahnya.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3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Box Model: setiap elemen itu seperti kotak berbungkus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55096" cy="217627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54864" cy="217627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9789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┌───────────── margin ─────────────┐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│  ┌─────────── border ─────────┐  │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│  │  ┌──────── padding ─────┐  │  │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│  │  │      content         │  │  │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└────────────────────────────────────┘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657600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657600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.kartu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padding: 16px;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border: 1px solid #ddd;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margin: 12px;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5458968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31536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diagram box model di atas, dengan warna berbeda tiap lapisan.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4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Display: Bagaimana Elemen Mengambil Ruang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Setiap elemen HTML punya "kepribadian" bawaan soal cara mengambil ruang di halaman — disebut </a:t>
            </a:r>
            <a:r>
              <a:rPr sz="1350">
                <a:solidFill>
                  <a:srgbClr val="C9A66B"/>
                </a:solidFill>
                <a:latin typeface="Consolas"/>
              </a:rPr>
              <a:t>display</a:t>
            </a:r>
            <a:r>
              <a:rPr sz="1450">
                <a:solidFill>
                  <a:srgbClr val="F6F3E7"/>
                </a:solidFill>
                <a:latin typeface="Calibri"/>
              </a:rPr>
              <a:t>. Bayangkan rak buku: sebagian buku harus dapat satu rak sendiri (block), sebagian bisa nyempil sejajar dengan buku lain (inline).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204825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02996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block</a:t>
            </a:r>
            <a:r>
              <a:rPr sz="1350">
                <a:solidFill>
                  <a:srgbClr val="B7C9A8"/>
                </a:solidFill>
                <a:latin typeface="Calibri"/>
              </a:rPr>
              <a:t> — elemen ambil satu baris penuh, elemen berikutnya otomatis turun ke bawah. Default punya </a:t>
            </a:r>
            <a:r>
              <a:rPr sz="1250">
                <a:solidFill>
                  <a:srgbClr val="C9A66B"/>
                </a:solidFill>
                <a:latin typeface="Consolas"/>
              </a:rPr>
              <a:t>&lt;div&gt;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&lt;p&gt;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&lt;h1&gt;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&lt;section&gt;</a:t>
            </a:r>
            <a:r>
              <a:rPr sz="1350">
                <a:solidFill>
                  <a:srgbClr val="B7C9A8"/>
                </a:solidFill>
                <a:latin typeface="Calibri"/>
              </a:rPr>
              <a:t>, dan sejenisnya.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01752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99923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inline</a:t>
            </a:r>
            <a:r>
              <a:rPr sz="1350">
                <a:solidFill>
                  <a:srgbClr val="B7C9A8"/>
                </a:solidFill>
                <a:latin typeface="Calibri"/>
              </a:rPr>
              <a:t> — elemen cuma ambil selebar isinya, sejajar dengan teks di sekitarnya, dan </a:t>
            </a:r>
            <a:r>
              <a:rPr sz="1350" b="1">
                <a:solidFill>
                  <a:srgbClr val="F6F3E7"/>
                </a:solidFill>
                <a:latin typeface="Calibri"/>
              </a:rPr>
              <a:t>tidak bisa</a:t>
            </a:r>
            <a:r>
              <a:rPr sz="1350">
                <a:solidFill>
                  <a:srgbClr val="B7C9A8"/>
                </a:solidFill>
                <a:latin typeface="Calibri"/>
              </a:rPr>
              <a:t> diatur </a:t>
            </a:r>
            <a:r>
              <a:rPr sz="1250">
                <a:solidFill>
                  <a:srgbClr val="C9A66B"/>
                </a:solidFill>
                <a:latin typeface="Consolas"/>
              </a:rPr>
              <a:t>width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height</a:t>
            </a:r>
            <a:r>
              <a:rPr sz="1350">
                <a:solidFill>
                  <a:srgbClr val="B7C9A8"/>
                </a:solidFill>
                <a:latin typeface="Calibri"/>
              </a:rPr>
              <a:t>/margin atas-bawah. Default punya </a:t>
            </a:r>
            <a:r>
              <a:rPr sz="1250">
                <a:solidFill>
                  <a:srgbClr val="C9A66B"/>
                </a:solidFill>
                <a:latin typeface="Consolas"/>
              </a:rPr>
              <a:t>&lt;span&gt;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&lt;a&gt;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&lt;img&gt;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98678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96849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inline-block</a:t>
            </a:r>
            <a:r>
              <a:rPr sz="1350">
                <a:solidFill>
                  <a:srgbClr val="B7C9A8"/>
                </a:solidFill>
                <a:latin typeface="Calibri"/>
              </a:rPr>
              <a:t> — gabungan keduanya: sejajar seperti inline, tapi bisa diatur </a:t>
            </a:r>
            <a:r>
              <a:rPr sz="1250">
                <a:solidFill>
                  <a:srgbClr val="C9A66B"/>
                </a:solidFill>
                <a:latin typeface="Consolas"/>
              </a:rPr>
              <a:t>width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height</a:t>
            </a:r>
            <a:r>
              <a:rPr sz="1350">
                <a:solidFill>
                  <a:srgbClr val="B7C9A8"/>
                </a:solidFill>
                <a:latin typeface="Calibri"/>
              </a:rPr>
              <a:t>/padding seperti block. Berguna untuk tombol atau kartu kecil yang mau sejajar tapi tetap punya ukuran presisi.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95604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93776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none</a:t>
            </a:r>
            <a:r>
              <a:rPr sz="1350">
                <a:solidFill>
                  <a:srgbClr val="B7C9A8"/>
                </a:solidFill>
                <a:latin typeface="Calibri"/>
              </a:rPr>
              <a:t> — elemen dihilangkan total dari halaman, tidak makan tempat sama sekali. Beda dengan </a:t>
            </a:r>
            <a:r>
              <a:rPr sz="1250">
                <a:solidFill>
                  <a:srgbClr val="C9A66B"/>
                </a:solidFill>
                <a:latin typeface="Consolas"/>
              </a:rPr>
              <a:t>visibility: hidden</a:t>
            </a:r>
            <a:r>
              <a:rPr sz="1350">
                <a:solidFill>
                  <a:srgbClr val="B7C9A8"/>
                </a:solidFill>
                <a:latin typeface="Calibri"/>
              </a:rPr>
              <a:t> yang cuma bikin tidak kelihatan tapi tempatnya tetap 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4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Display: Bagaimana Elemen Mengambil Ruang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55096" cy="107899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54864" cy="107899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9789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.kotak-block { display: block; }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.kotak-inline { display: inline; }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.kotak-inline-block { display: inline-block; width: 100px;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60320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Tiga </a:t>
            </a:r>
            <a:r>
              <a:rPr sz="1350">
                <a:solidFill>
                  <a:srgbClr val="C9A66B"/>
                </a:solidFill>
                <a:latin typeface="Consolas"/>
              </a:rPr>
              <a:t>&lt;div&gt;</a:t>
            </a:r>
            <a:r>
              <a:rPr sz="1450">
                <a:solidFill>
                  <a:srgbClr val="F6F3E7"/>
                </a:solidFill>
                <a:latin typeface="Calibri"/>
              </a:rPr>
              <a:t> dengan </a:t>
            </a:r>
            <a:r>
              <a:rPr sz="1350">
                <a:solidFill>
                  <a:srgbClr val="C9A66B"/>
                </a:solidFill>
                <a:latin typeface="Consolas"/>
              </a:rPr>
              <a:t>display: block</a:t>
            </a:r>
            <a:r>
              <a:rPr sz="1450">
                <a:solidFill>
                  <a:srgbClr val="F6F3E7"/>
                </a:solidFill>
                <a:latin typeface="Calibri"/>
              </a:rPr>
              <a:t> akan bertumpuk ke bawah; ubah jadi </a:t>
            </a:r>
            <a:r>
              <a:rPr sz="1350">
                <a:solidFill>
                  <a:srgbClr val="C9A66B"/>
                </a:solidFill>
                <a:latin typeface="Consolas"/>
              </a:rPr>
              <a:t>display: inline</a:t>
            </a:r>
            <a:r>
              <a:rPr sz="1450">
                <a:solidFill>
                  <a:srgbClr val="F6F3E7"/>
                </a:solidFill>
                <a:latin typeface="Calibri"/>
              </a:rPr>
              <a:t> atau </a:t>
            </a:r>
            <a:r>
              <a:rPr sz="1350">
                <a:solidFill>
                  <a:srgbClr val="C9A66B"/>
                </a:solidFill>
                <a:latin typeface="Consolas"/>
              </a:rPr>
              <a:t>inline-block</a:t>
            </a:r>
            <a:r>
              <a:rPr sz="1450">
                <a:solidFill>
                  <a:srgbClr val="F6F3E7"/>
                </a:solidFill>
                <a:latin typeface="Calibri"/>
              </a:rPr>
              <a:t>, ketiganya jadi sejajar ke samping.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300984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73552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tiga kotak warna berbeda — versi block (bertumpuk vertikal), versi inline (sejajar horizontal, ukuran ikut isi), versi inline-block (sejajar horizontal, ukuran seragam).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5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Position: Menempatkan Elemen Secara Presisi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Analoginya seperti antrian: posisi normal (</a:t>
            </a:r>
            <a:r>
              <a:rPr sz="1350">
                <a:solidFill>
                  <a:srgbClr val="C9A66B"/>
                </a:solidFill>
                <a:latin typeface="Consolas"/>
              </a:rPr>
              <a:t>static</a:t>
            </a:r>
            <a:r>
              <a:rPr sz="1450">
                <a:solidFill>
                  <a:srgbClr val="F6F3E7"/>
                </a:solidFill>
                <a:latin typeface="Calibri"/>
              </a:rPr>
              <a:t>) itu duduk sesuai urutan antrian. </a:t>
            </a:r>
            <a:r>
              <a:rPr sz="1350">
                <a:solidFill>
                  <a:srgbClr val="C9A66B"/>
                </a:solidFill>
                <a:latin typeface="Consolas"/>
              </a:rPr>
              <a:t>relative</a:t>
            </a:r>
            <a:r>
              <a:rPr sz="1450">
                <a:solidFill>
                  <a:srgbClr val="F6F3E7"/>
                </a:solidFill>
                <a:latin typeface="Calibri"/>
              </a:rPr>
              <a:t> itu geser dikit dari kursi tanpa keluar antrian — kursimu tetap "dijatah". </a:t>
            </a:r>
            <a:r>
              <a:rPr sz="1350">
                <a:solidFill>
                  <a:srgbClr val="C9A66B"/>
                </a:solidFill>
                <a:latin typeface="Consolas"/>
              </a:rPr>
              <a:t>absolute</a:t>
            </a:r>
            <a:r>
              <a:rPr sz="1450">
                <a:solidFill>
                  <a:srgbClr val="F6F3E7"/>
                </a:solidFill>
                <a:latin typeface="Calibri"/>
              </a:rPr>
              <a:t> itu keluar total dari antrian, langsung nempel ke titik tertentu.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204825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02996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static</a:t>
            </a:r>
            <a:r>
              <a:rPr sz="1350">
                <a:solidFill>
                  <a:srgbClr val="B7C9A8"/>
                </a:solidFill>
                <a:latin typeface="Calibri"/>
              </a:rPr>
              <a:t> — default, mengikuti alur normal dokumen. </a:t>
            </a:r>
            <a:r>
              <a:rPr sz="1250">
                <a:solidFill>
                  <a:srgbClr val="C9A66B"/>
                </a:solidFill>
                <a:latin typeface="Consolas"/>
              </a:rPr>
              <a:t>top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left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right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bottom</a:t>
            </a:r>
            <a:r>
              <a:rPr sz="1350">
                <a:solidFill>
                  <a:srgbClr val="B7C9A8"/>
                </a:solidFill>
                <a:latin typeface="Calibri"/>
              </a:rPr>
              <a:t> tidak berpengaruh.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84378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82549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relative</a:t>
            </a:r>
            <a:r>
              <a:rPr sz="1350">
                <a:solidFill>
                  <a:srgbClr val="B7C9A8"/>
                </a:solidFill>
                <a:latin typeface="Calibri"/>
              </a:rPr>
              <a:t> — elemen bisa digeser dari posisi normalnya pakai </a:t>
            </a:r>
            <a:r>
              <a:rPr sz="1250">
                <a:solidFill>
                  <a:srgbClr val="C9A66B"/>
                </a:solidFill>
                <a:latin typeface="Consolas"/>
              </a:rPr>
              <a:t>top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left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right</a:t>
            </a:r>
            <a:r>
              <a:rPr sz="1350">
                <a:solidFill>
                  <a:srgbClr val="B7C9A8"/>
                </a:solidFill>
                <a:latin typeface="Calibri"/>
              </a:rPr>
              <a:t>/</a:t>
            </a:r>
            <a:r>
              <a:rPr sz="1250">
                <a:solidFill>
                  <a:srgbClr val="C9A66B"/>
                </a:solidFill>
                <a:latin typeface="Consolas"/>
              </a:rPr>
              <a:t>bottom</a:t>
            </a:r>
            <a:r>
              <a:rPr sz="1350">
                <a:solidFill>
                  <a:srgbClr val="B7C9A8"/>
                </a:solidFill>
                <a:latin typeface="Calibri"/>
              </a:rPr>
              <a:t>, tapi ruang aslinya tetap dijaga — elemen lain tidak ikut geser.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81304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79476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absolute</a:t>
            </a:r>
            <a:r>
              <a:rPr sz="1350">
                <a:solidFill>
                  <a:srgbClr val="B7C9A8"/>
                </a:solidFill>
                <a:latin typeface="Calibri"/>
              </a:rPr>
              <a:t> — elemen dilepas total dari alur normal, posisinya dihitung relatif terhadap </a:t>
            </a:r>
            <a:r>
              <a:rPr sz="1350" b="1">
                <a:solidFill>
                  <a:srgbClr val="F6F3E7"/>
                </a:solidFill>
                <a:latin typeface="Calibri"/>
              </a:rPr>
              <a:t>parent terdekat yang sudah diberi position selain static</a:t>
            </a:r>
            <a:r>
              <a:rPr sz="1350">
                <a:solidFill>
                  <a:srgbClr val="B7C9A8"/>
                </a:solidFill>
                <a:latin typeface="Calibri"/>
              </a:rPr>
              <a:t>. Kalau tidak ada, dia nempel ke seluruh halaman. Ini sebabnya pola </a:t>
            </a:r>
            <a:r>
              <a:rPr sz="1350" b="1">
                <a:solidFill>
                  <a:srgbClr val="F6F3E7"/>
                </a:solidFill>
                <a:latin typeface="Calibri"/>
              </a:rPr>
              <a:t>"relative parent + absolute child"</a:t>
            </a:r>
            <a:r>
              <a:rPr sz="1350">
                <a:solidFill>
                  <a:srgbClr val="B7C9A8"/>
                </a:solidFill>
                <a:latin typeface="Calibri"/>
              </a:rPr>
              <a:t> selalu berpasangan.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5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Position: Menempatkan Elemen Secara Presisi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55096" cy="24688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54864" cy="246888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978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.kartu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position: relative;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.badge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position: absolute;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top: 8px;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right: 8px;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950208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Bonus: </a:t>
            </a:r>
            <a:r>
              <a:rPr sz="1350">
                <a:solidFill>
                  <a:srgbClr val="C9A66B"/>
                </a:solidFill>
                <a:latin typeface="Consolas"/>
              </a:rPr>
              <a:t>position: fixed</a:t>
            </a:r>
            <a:r>
              <a:rPr sz="1450">
                <a:solidFill>
                  <a:srgbClr val="F6F3E7"/>
                </a:solidFill>
                <a:latin typeface="Calibri"/>
              </a:rPr>
              <a:t> dan </a:t>
            </a:r>
            <a:r>
              <a:rPr sz="1350">
                <a:solidFill>
                  <a:srgbClr val="C9A66B"/>
                </a:solidFill>
                <a:latin typeface="Consolas"/>
              </a:rPr>
              <a:t>sticky</a:t>
            </a:r>
            <a:r>
              <a:rPr sz="1450">
                <a:solidFill>
                  <a:srgbClr val="F6F3E7"/>
                </a:solidFill>
                <a:latin typeface="Calibri"/>
              </a:rPr>
              <a:t> dipakai buat navbar yang "nempel" saat halaman di-scroll — pola umum di web sungguhan, lebih masuk akal dipraktikkan setelah belajar JavaScript/scroll behavior nanti.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4690872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tiga kartu berdampingan dengan anotasi — "static: ikut baris", "relative: geser tapi jatahnya tetap", "absolute: lepas total, nempel ke parent".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6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Pseudo-class :hover: Bereaksi Saat Disentuh Kursor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Seperti lampu otomatis yang menyala saat ada yang mendekat — </a:t>
            </a:r>
            <a:r>
              <a:rPr sz="1350">
                <a:solidFill>
                  <a:srgbClr val="C9A66B"/>
                </a:solidFill>
                <a:latin typeface="Consolas"/>
              </a:rPr>
              <a:t>:hover</a:t>
            </a:r>
            <a:r>
              <a:rPr sz="1450">
                <a:solidFill>
                  <a:srgbClr val="F6F3E7"/>
                </a:solidFill>
                <a:latin typeface="Calibri"/>
              </a:rPr>
              <a:t> bikin CSS bereaksi </a:t>
            </a:r>
            <a:r>
              <a:rPr sz="1450" b="1">
                <a:solidFill>
                  <a:srgbClr val="F6F3E7"/>
                </a:solidFill>
                <a:latin typeface="Calibri"/>
              </a:rPr>
              <a:t>selagi</a:t>
            </a:r>
            <a:r>
              <a:rPr sz="1450">
                <a:solidFill>
                  <a:srgbClr val="F6F3E7"/>
                </a:solidFill>
                <a:latin typeface="Calibri"/>
              </a:rPr>
              <a:t> kursor ada di atas sebuah elemen, lalu otomatis kembali normal saat kursor pergi. Tanpa butuh JavaScript sama sekali.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204825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02996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Ditambahkan ke selector manapun: </a:t>
            </a:r>
            <a:r>
              <a:rPr sz="1250">
                <a:solidFill>
                  <a:srgbClr val="C9A66B"/>
                </a:solidFill>
                <a:latin typeface="Consolas"/>
              </a:rPr>
              <a:t>.tombol:hover { }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84378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82549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Dipakai luas di web sungguhan: warna tombol berubah, link berubah underline, kartu sedikit membesar saat disorot.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63931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62102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Tips kecil yang sering kelewat: tambahkan </a:t>
            </a:r>
            <a:r>
              <a:rPr sz="1250">
                <a:solidFill>
                  <a:srgbClr val="C9A66B"/>
                </a:solidFill>
                <a:latin typeface="Consolas"/>
              </a:rPr>
              <a:t>cursor: pointer</a:t>
            </a:r>
            <a:r>
              <a:rPr sz="1350">
                <a:solidFill>
                  <a:srgbClr val="B7C9A8"/>
                </a:solidFill>
                <a:latin typeface="Calibri"/>
              </a:rPr>
              <a:t> di elemen yang bisa diklik, supaya kursor berubah jadi ikon tangan — sinyal visual bahwa elemen itu bisa diklik.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6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Pseudo-class :hover: Bereaksi Saat Disentuh Kursor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55096" cy="2450591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54864" cy="2450591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97896" cy="226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header nav a:hover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text-decoration: underline;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button:hover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background-color: #334155;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cursor: pointer;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3959351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31919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satu tombol digambar dua kondisi berdampingan — normal vs saat di-hover (warna beda), dengan ikon kursor di atas versi hover.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7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Warna dan tipografi dasar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Warna bisa ditulis dengan nama (</a:t>
            </a:r>
            <a:r>
              <a:rPr sz="1250">
                <a:solidFill>
                  <a:srgbClr val="C9A66B"/>
                </a:solidFill>
                <a:latin typeface="Consolas"/>
              </a:rPr>
              <a:t>red</a:t>
            </a:r>
            <a:r>
              <a:rPr sz="1350">
                <a:solidFill>
                  <a:srgbClr val="B7C9A8"/>
                </a:solidFill>
                <a:latin typeface="Calibri"/>
              </a:rPr>
              <a:t>), kode HEX (</a:t>
            </a:r>
            <a:r>
              <a:rPr sz="1250">
                <a:solidFill>
                  <a:srgbClr val="C9A66B"/>
                </a:solidFill>
                <a:latin typeface="Consolas"/>
              </a:rPr>
              <a:t>#ff0000</a:t>
            </a:r>
            <a:r>
              <a:rPr sz="1350">
                <a:solidFill>
                  <a:srgbClr val="B7C9A8"/>
                </a:solidFill>
                <a:latin typeface="Calibri"/>
              </a:rPr>
              <a:t>), atau </a:t>
            </a:r>
            <a:r>
              <a:rPr sz="1250">
                <a:solidFill>
                  <a:srgbClr val="C9A66B"/>
                </a:solidFill>
                <a:latin typeface="Consolas"/>
              </a:rPr>
              <a:t>rgb(255, 0, 0)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13055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11226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Font diatur dengan </a:t>
            </a:r>
            <a:r>
              <a:rPr sz="1250">
                <a:solidFill>
                  <a:srgbClr val="C9A66B"/>
                </a:solidFill>
                <a:latin typeface="Consolas"/>
              </a:rPr>
              <a:t>font-family</a:t>
            </a:r>
            <a:r>
              <a:rPr sz="1350">
                <a:solidFill>
                  <a:srgbClr val="B7C9A8"/>
                </a:solidFill>
                <a:latin typeface="Calibri"/>
              </a:rPr>
              <a:t>, ukuran dengan </a:t>
            </a:r>
            <a:r>
              <a:rPr sz="1250">
                <a:solidFill>
                  <a:srgbClr val="C9A66B"/>
                </a:solidFill>
                <a:latin typeface="Consolas"/>
              </a:rPr>
              <a:t>font-size</a:t>
            </a:r>
            <a:r>
              <a:rPr sz="1350">
                <a:solidFill>
                  <a:srgbClr val="B7C9A8"/>
                </a:solidFill>
                <a:latin typeface="Calibri"/>
              </a:rPr>
              <a:t>, ketebalan dengan </a:t>
            </a:r>
            <a:r>
              <a:rPr sz="1250">
                <a:solidFill>
                  <a:srgbClr val="C9A66B"/>
                </a:solidFill>
                <a:latin typeface="Consolas"/>
              </a:rPr>
              <a:t>font-weight</a:t>
            </a:r>
            <a:r>
              <a:rPr sz="1350">
                <a:solidFill>
                  <a:srgbClr val="B7C9A8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26080"/>
            <a:ext cx="11055096" cy="24688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926080"/>
            <a:ext cx="54864" cy="246888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105978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body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font-family: Arial, sans-serif;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color: #1f2937;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h1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font-size: 32px;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font-weight: bold;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8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Flexbox: menata elemen sejajar dengan mudah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Sebelum Flexbox, menyusun elemen berjajar itu merepotkan. Flexbox menyederhanakannya dengan konsep dua sumbu: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77393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175564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Sumbu utama (main axis)</a:t>
            </a:r>
            <a:r>
              <a:rPr sz="1350">
                <a:solidFill>
                  <a:srgbClr val="B7C9A8"/>
                </a:solidFill>
                <a:latin typeface="Calibri"/>
              </a:rPr>
              <a:t> — arah barisan elemen (default: horizontal, kiri ke kanan).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6946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55117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Sumbu silang (cross axis)</a:t>
            </a:r>
            <a:r>
              <a:rPr sz="1350">
                <a:solidFill>
                  <a:srgbClr val="B7C9A8"/>
                </a:solidFill>
                <a:latin typeface="Calibri"/>
              </a:rPr>
              <a:t> — arah tegak lurus dari sumbu utama.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364992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364992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.daftar-umkm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display: flex;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gap: 16px;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flex-wrap: wrap;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513892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512064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display: flex</a:t>
            </a:r>
            <a:r>
              <a:rPr sz="1350">
                <a:solidFill>
                  <a:srgbClr val="B7C9A8"/>
                </a:solidFill>
                <a:latin typeface="Calibri"/>
              </a:rPr>
              <a:t> — mengaktifkan Flexbox pada elemen ini; anak-anaknya otomatis berjajar.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8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Flexbox: menata elemen sejajar dengan mudah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3350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13167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gap</a:t>
            </a:r>
            <a:r>
              <a:rPr sz="1350">
                <a:solidFill>
                  <a:srgbClr val="B7C9A8"/>
                </a:solidFill>
                <a:latin typeface="Calibri"/>
              </a:rPr>
              <a:t> — jarak antar elemen anak.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13055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11226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flex-wrap: wrap</a:t>
            </a:r>
            <a:r>
              <a:rPr sz="1350">
                <a:solidFill>
                  <a:srgbClr val="B7C9A8"/>
                </a:solidFill>
                <a:latin typeface="Calibri"/>
              </a:rPr>
              <a:t> — kalau tempat tidak cukup, elemen pindah ke baris berikutnya (penting untuk HP).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92608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90779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justify-content</a:t>
            </a:r>
            <a:r>
              <a:rPr sz="1350">
                <a:solidFill>
                  <a:srgbClr val="B7C9A8"/>
                </a:solidFill>
                <a:latin typeface="Calibri"/>
              </a:rPr>
              <a:t> — mengatur posisi di sumbu utama (</a:t>
            </a:r>
            <a:r>
              <a:rPr sz="1250">
                <a:solidFill>
                  <a:srgbClr val="C9A66B"/>
                </a:solidFill>
                <a:latin typeface="Consolas"/>
              </a:rPr>
              <a:t>center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space-between</a:t>
            </a:r>
            <a:r>
              <a:rPr sz="1350">
                <a:solidFill>
                  <a:srgbClr val="B7C9A8"/>
                </a:solidFill>
                <a:latin typeface="Calibri"/>
              </a:rPr>
              <a:t>, dst).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72160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70332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align-items</a:t>
            </a:r>
            <a:r>
              <a:rPr sz="1350">
                <a:solidFill>
                  <a:srgbClr val="B7C9A8"/>
                </a:solidFill>
                <a:latin typeface="Calibri"/>
              </a:rPr>
              <a:t> — mengatur posisi di sumbu silang (</a:t>
            </a:r>
            <a:r>
              <a:rPr sz="1250">
                <a:solidFill>
                  <a:srgbClr val="C9A66B"/>
                </a:solidFill>
                <a:latin typeface="Consolas"/>
              </a:rPr>
              <a:t>center</a:t>
            </a:r>
            <a:r>
              <a:rPr sz="1350">
                <a:solidFill>
                  <a:srgbClr val="B7C9A8"/>
                </a:solidFill>
                <a:latin typeface="Calibri"/>
              </a:rPr>
              <a:t>, </a:t>
            </a:r>
            <a:r>
              <a:rPr sz="1250">
                <a:solidFill>
                  <a:srgbClr val="C9A66B"/>
                </a:solidFill>
                <a:latin typeface="Consolas"/>
              </a:rPr>
              <a:t>flex-start</a:t>
            </a:r>
            <a:r>
              <a:rPr sz="1350">
                <a:solidFill>
                  <a:srgbClr val="B7C9A8"/>
                </a:solidFill>
                <a:latin typeface="Calibri"/>
              </a:rPr>
              <a:t>, dst).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544568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17136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tiga kartu UMKM sebelum Flexbox (bertumpuk vertikal) vs sesudah (berjajar rapi dengan jarak sama).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9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CSS Grid: menata dalam baris DAN kolom sekaligus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Analogi: Flexbox itu kayak nyusun barang di satu rak — cuma satu arah, baris </a:t>
            </a:r>
            <a:r>
              <a:rPr sz="1450" b="1">
                <a:solidFill>
                  <a:srgbClr val="F6F3E7"/>
                </a:solidFill>
                <a:latin typeface="Calibri"/>
              </a:rPr>
              <a:t>atau</a:t>
            </a:r>
            <a:r>
              <a:rPr sz="1450">
                <a:solidFill>
                  <a:srgbClr val="F6F3E7"/>
                </a:solidFill>
                <a:latin typeface="Calibri"/>
              </a:rPr>
              <a:t> kolom. CSS Grid itu kayak rak susun berkotak-kotak: baris </a:t>
            </a:r>
            <a:r>
              <a:rPr sz="1450" b="1">
                <a:solidFill>
                  <a:srgbClr val="F6F3E7"/>
                </a:solidFill>
                <a:latin typeface="Calibri"/>
              </a:rPr>
              <a:t>dan</a:t>
            </a:r>
            <a:r>
              <a:rPr sz="1450">
                <a:solidFill>
                  <a:srgbClr val="F6F3E7"/>
                </a:solidFill>
                <a:latin typeface="Calibri"/>
              </a:rPr>
              <a:t> kolom sekaligus, jadi cocok buat tata letak yang lebih rumit dari sekadar "berjajar".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204825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02996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display: grid</a:t>
            </a:r>
            <a:r>
              <a:rPr sz="1350">
                <a:solidFill>
                  <a:srgbClr val="B7C9A8"/>
                </a:solidFill>
                <a:latin typeface="Calibri"/>
              </a:rPr>
              <a:t> — mengaktifkan Grid pada elemen ini.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84378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82549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grid-template-columns</a:t>
            </a:r>
            <a:r>
              <a:rPr sz="1350">
                <a:solidFill>
                  <a:srgbClr val="B7C9A8"/>
                </a:solidFill>
                <a:latin typeface="Calibri"/>
              </a:rPr>
              <a:t> — menentukan ada berapa kolom dan selebar apa masing-masing.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63931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62102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C9A66B"/>
                </a:solidFill>
                <a:latin typeface="Consolas"/>
              </a:rPr>
              <a:t>gap</a:t>
            </a:r>
            <a:r>
              <a:rPr sz="1350">
                <a:solidFill>
                  <a:srgbClr val="B7C9A8"/>
                </a:solidFill>
                <a:latin typeface="Calibri"/>
              </a:rPr>
              <a:t> — jarak antar sel grid (sama seperti di Flexbox).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4434840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416552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Unit </a:t>
            </a:r>
            <a:r>
              <a:rPr sz="1250">
                <a:solidFill>
                  <a:srgbClr val="C9A66B"/>
                </a:solidFill>
                <a:latin typeface="Consolas"/>
              </a:rPr>
              <a:t>fr</a:t>
            </a:r>
            <a:r>
              <a:rPr sz="1350">
                <a:solidFill>
                  <a:srgbClr val="B7C9A8"/>
                </a:solidFill>
                <a:latin typeface="Calibri"/>
              </a:rPr>
              <a:t> (</a:t>
            </a:r>
            <a:r>
              <a:rPr sz="1350" i="1">
                <a:solidFill>
                  <a:srgbClr val="B7C9A8"/>
                </a:solidFill>
                <a:latin typeface="Calibri"/>
              </a:rPr>
              <a:t>fraction</a:t>
            </a:r>
            <a:r>
              <a:rPr sz="1350">
                <a:solidFill>
                  <a:srgbClr val="B7C9A8"/>
                </a:solidFill>
                <a:latin typeface="Calibri"/>
              </a:rPr>
              <a:t>) — bagian relatif dari ruang yang tersedia. </a:t>
            </a:r>
            <a:r>
              <a:rPr sz="1250">
                <a:solidFill>
                  <a:srgbClr val="C9A66B"/>
                </a:solidFill>
                <a:latin typeface="Consolas"/>
              </a:rPr>
              <a:t>1fr 1fr</a:t>
            </a:r>
            <a:r>
              <a:rPr sz="1350">
                <a:solidFill>
                  <a:srgbClr val="B7C9A8"/>
                </a:solidFill>
                <a:latin typeface="Calibri"/>
              </a:rPr>
              <a:t> artinya 2 kolom sama lebar; </a:t>
            </a:r>
            <a:r>
              <a:rPr sz="1250">
                <a:solidFill>
                  <a:srgbClr val="C9A66B"/>
                </a:solidFill>
                <a:latin typeface="Consolas"/>
              </a:rPr>
              <a:t>2fr 1fr</a:t>
            </a:r>
            <a:r>
              <a:rPr sz="1350">
                <a:solidFill>
                  <a:srgbClr val="B7C9A8"/>
                </a:solidFill>
                <a:latin typeface="Calibri"/>
              </a:rPr>
              <a:t> artinya kolom pertama dua kali lebih lebar dari kolom kedua.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9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CSS Grid: menata dalam baris DAN kolom sekaligus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55096" cy="162763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54864" cy="162763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9789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.dua-kolom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display: grid;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grid-template-columns: 1fr 1fr;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gap: 20px;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08960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Kapan pakai yang mana? Aturan praktis: </a:t>
            </a:r>
            <a:r>
              <a:rPr sz="1450" b="1">
                <a:solidFill>
                  <a:srgbClr val="F6F3E7"/>
                </a:solidFill>
                <a:latin typeface="Calibri"/>
              </a:rPr>
              <a:t>Flexbox buat menyusun 1 baris/kolom</a:t>
            </a:r>
            <a:r>
              <a:rPr sz="1450">
                <a:solidFill>
                  <a:srgbClr val="F6F3E7"/>
                </a:solidFill>
                <a:latin typeface="Calibri"/>
              </a:rPr>
              <a:t> (misalnya kartu UMKM berjajar horizontal), </a:t>
            </a:r>
            <a:r>
              <a:rPr sz="1450" b="1">
                <a:solidFill>
                  <a:srgbClr val="F6F3E7"/>
                </a:solidFill>
                <a:latin typeface="Calibri"/>
              </a:rPr>
              <a:t>Grid buat tata letak yang punya baris dan kolom sekaligus</a:t>
            </a:r>
            <a:r>
              <a:rPr sz="1450">
                <a:solidFill>
                  <a:srgbClr val="F6F3E7"/>
                </a:solidFill>
                <a:latin typeface="Calibri"/>
              </a:rPr>
              <a:t> (misalnya section dibagi 2: teks di kiri, gambar di kanan).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849624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22192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satu section dibagi 2 kolom rapi (garis putus-putus menandai batas kolom), dengan label "1fr" di masing-masing kolom.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10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Responsive design: kenapa tampilan HP beda dari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Layar HP jauh lebih sempit dari laptop. Kalau tidak diatur, 3 kartu yang tadinya berjajar bisa jadi kepotong atau kekecilan di HP.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48256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F6F3E7"/>
                </a:solidFill>
                <a:latin typeface="Calibri"/>
              </a:rPr>
              <a:t>Media query</a:t>
            </a:r>
            <a:r>
              <a:rPr sz="1450">
                <a:solidFill>
                  <a:srgbClr val="F6F3E7"/>
                </a:solidFill>
                <a:latin typeface="Calibri"/>
              </a:rPr>
              <a:t> memungkinkan CSS berubah tergantung lebar layar: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487168"/>
            <a:ext cx="11055096" cy="2468880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487168"/>
            <a:ext cx="54864" cy="2468880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96896"/>
            <a:ext cx="1059789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.daftar-umkm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display: flex;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flex-wrap: wrap;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@media (max-width: 640px)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.daftar-umkm {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  flex-direction: column;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 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02352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Artinya: "kalau lebar layar 640px atau kurang (kira-kira ukuran HP), susun kartu jadi vertikal (</a:t>
            </a:r>
            <a:r>
              <a:rPr sz="1350">
                <a:solidFill>
                  <a:srgbClr val="C9A66B"/>
                </a:solidFill>
                <a:latin typeface="Consolas"/>
              </a:rPr>
              <a:t>column</a:t>
            </a:r>
            <a:r>
              <a:rPr sz="1450">
                <a:solidFill>
                  <a:srgbClr val="F6F3E7"/>
                </a:solidFill>
                <a:latin typeface="Calibri"/>
              </a:rPr>
              <a:t>) alih-alih berjajar."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11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Git: kenapa kita butuh sistem versi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Analogi: bayangkan main game tanpa fitur </a:t>
            </a:r>
            <a:r>
              <a:rPr sz="1450" i="1">
                <a:solidFill>
                  <a:srgbClr val="F6F3E7"/>
                </a:solidFill>
                <a:latin typeface="Calibri"/>
              </a:rPr>
              <a:t>save</a:t>
            </a:r>
            <a:r>
              <a:rPr sz="1450">
                <a:solidFill>
                  <a:srgbClr val="F6F3E7"/>
                </a:solidFill>
                <a:latin typeface="Calibri"/>
              </a:rPr>
              <a:t>. Kalau salah langkah, harus mulai dari awal lagi. Git itu seperti fitur </a:t>
            </a:r>
            <a:r>
              <a:rPr sz="1450" i="1">
                <a:solidFill>
                  <a:srgbClr val="F6F3E7"/>
                </a:solidFill>
                <a:latin typeface="Calibri"/>
              </a:rPr>
              <a:t>save</a:t>
            </a:r>
            <a:r>
              <a:rPr sz="1450">
                <a:solidFill>
                  <a:srgbClr val="F6F3E7"/>
                </a:solidFill>
                <a:latin typeface="Calibri"/>
              </a:rPr>
              <a:t> untuk kode — kamu bisa menyimpan "titik aman" kapan saja dan kembali ke sana kalau ada yang rusak.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48256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Istilah dasar: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487168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468880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Repository (repo)</a:t>
            </a:r>
            <a:r>
              <a:rPr sz="1350">
                <a:solidFill>
                  <a:srgbClr val="B7C9A8"/>
                </a:solidFill>
                <a:latin typeface="Calibri"/>
              </a:rPr>
              <a:t> — folder proyek yang dilacak oleh Git.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28269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26440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Commit</a:t>
            </a:r>
            <a:r>
              <a:rPr sz="1350">
                <a:solidFill>
                  <a:srgbClr val="B7C9A8"/>
                </a:solidFill>
                <a:latin typeface="Calibri"/>
              </a:rPr>
              <a:t> — "titik simpan" berisi catatan perubahan apa saja yang terjadi.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07822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05993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Remote</a:t>
            </a:r>
            <a:r>
              <a:rPr sz="1350">
                <a:solidFill>
                  <a:srgbClr val="B7C9A8"/>
                </a:solidFill>
                <a:latin typeface="Calibri"/>
              </a:rPr>
              <a:t> — salinan repo yang disimpan online (di GitHub).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87375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485546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6F3E7"/>
                </a:solidFill>
                <a:latin typeface="Calibri"/>
              </a:rPr>
              <a:t>Push</a:t>
            </a:r>
            <a:r>
              <a:rPr sz="1350">
                <a:solidFill>
                  <a:srgbClr val="B7C9A8"/>
                </a:solidFill>
                <a:latin typeface="Calibri"/>
              </a:rPr>
              <a:t> — mengirim commit dari komputer ke remote (GitHub).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669280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Alur kerja dasar: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11 DARI 12 (LANJUTAN)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Git: kenapa kita butuh sistem versi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55096" cy="804672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54864" cy="804672"/>
          </a:xfrm>
          <a:prstGeom prst="rect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9789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7C9A8"/>
                </a:solidFill>
                <a:latin typeface="Consolas"/>
              </a:rPr>
              <a:t>Ubah file  →  git add  →  git commit  →  git push</a:t>
            </a:r>
          </a:p>
          <a:p>
            <a:r>
              <a:rPr sz="1200">
                <a:solidFill>
                  <a:srgbClr val="B7C9A8"/>
                </a:solidFill>
                <a:latin typeface="Consolas"/>
              </a:rPr>
              <a:t>(kerja)      (tandai)      (simpan)      (kirim ke GitHub)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313432"/>
            <a:ext cx="128016" cy="128016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780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150">
                <a:solidFill>
                  <a:srgbClr val="7C9473"/>
                </a:solidFill>
                <a:latin typeface="Calibri"/>
              </a:rPr>
              <a:t>Slide visual: diagram alur di atas sebagai 4 kotak berurutan dengan panah.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TEORI 12 DARI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GitHub: tempat menyimpan repo secara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11055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6F3E7"/>
                </a:solidFill>
                <a:latin typeface="Calibri"/>
              </a:rPr>
              <a:t>GitHub adalah layanan untuk menyimpan repository Git di internet. Fungsinya: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773936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1755648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Backup kode — kalau laptop rusak, kode tetap aman.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69464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551176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Kolaborasi — anggota tim bisa kerja di repo yang sama.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364992"/>
            <a:ext cx="329184" cy="329184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346704"/>
            <a:ext cx="10579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B7C9A8"/>
                </a:solidFill>
                <a:latin typeface="Calibri"/>
              </a:rPr>
              <a:t>Portofolio — recruiter sering melihat GitHub calon karyawan.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spc="200">
                <a:solidFill>
                  <a:srgbClr val="7C9473"/>
                </a:solidFill>
                <a:latin typeface="Calibri"/>
              </a:rP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55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6F3E7"/>
                </a:solidFill>
                <a:latin typeface="Poppins"/>
              </a:rPr>
              <a:t>Rangkuman &amp; Istilah Penting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63040"/>
            <a:ext cx="5577840" cy="1207008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737360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A231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71907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6F3E7"/>
                </a:solidFill>
                <a:latin typeface="Calibri"/>
              </a:rPr>
              <a:t>CSS menata tampilan lewat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579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CSS menata tampilan lewat selector, box model, display, dan 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44368"/>
            <a:ext cx="5577840" cy="1207008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218688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A231A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320040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6F3E7"/>
                </a:solidFill>
                <a:latin typeface="Calibri"/>
              </a:rPr>
              <a:t>Flexbox dan Grid menata elemen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39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Flexbox dan Grid menata elemen berjajar maupun dalam baris-kolom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25696"/>
            <a:ext cx="5577840" cy="1207008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700016"/>
            <a:ext cx="365760" cy="365760"/>
          </a:xfrm>
          <a:prstGeom prst="ellipse">
            <a:avLst/>
          </a:prstGeom>
          <a:solidFill>
            <a:srgbClr val="C9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A231A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68172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6F3E7"/>
                </a:solidFill>
                <a:latin typeface="Calibri"/>
              </a:rPr>
              <a:t>Media query bikin tampilan menyesuaikan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1206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7C9A8"/>
                </a:solidFill>
                <a:latin typeface="Calibri"/>
              </a:rPr>
              <a:t>media query bikin tampilan menyesuaikan lebar layar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42646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6F3E7"/>
                </a:solidFill>
                <a:latin typeface="Poppins"/>
              </a:rPr>
              <a:t>Istilah Penting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8836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Selector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836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Penanda elemen HTML mana yang ingin distyle di CSS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1762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408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Box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408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Susunan content, padding, border, margin pada setiap elemen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6334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980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980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Properti CSS yang menentukan cara elemen mengambil ruang: block, inline, inline-block, none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0906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2552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552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Elemen mengambil satu baris penuh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5478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7124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Inline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7124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Elemen hanya mengambil selebar isinya, sejajar dengan teks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0050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1696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Inline-block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696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Gabungan block dan inline: sejajar tapi bisa diatur ukurannya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4622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6268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268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Properti CSS untuk menempatkan elemen: static, relative, absolute, fixed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49194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0840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66B"/>
                </a:solidFill>
                <a:latin typeface="Calibri"/>
              </a:rPr>
              <a:t>Relative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0840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7C9A8"/>
                </a:solidFill>
                <a:latin typeface="Calibri"/>
              </a:rPr>
              <a:t>Elemen digeser dari posisi normalnya, tapi ruang aslinya tetap dijaga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5376672"/>
            <a:ext cx="5074920" cy="9525"/>
          </a:xfrm>
          <a:prstGeom prst="rect">
            <a:avLst/>
          </a:prstGeom>
          <a:solidFill>
            <a:srgbClr val="22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383280"/>
            <a:ext cx="4937760" cy="4937760"/>
          </a:xfrm>
          <a:prstGeom prst="ellipse">
            <a:avLst/>
          </a:prstGeom>
          <a:solidFill>
            <a:srgbClr val="7C947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005840"/>
            <a:ext cx="4206240" cy="4206240"/>
          </a:xfrm>
          <a:prstGeom prst="ellipse">
            <a:avLst/>
          </a:prstGeom>
          <a:solidFill>
            <a:srgbClr val="C9A66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spc="300">
                <a:solidFill>
                  <a:srgbClr val="C9A66B"/>
                </a:solidFill>
                <a:latin typeface="Calibri"/>
              </a:rPr>
              <a:t>MINGGU DEPAN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6F3E7"/>
                </a:solidFill>
                <a:latin typeface="Poppins"/>
              </a:rPr>
              <a:t>Minggu depan kita membuat halaman jadi hidup dengan JavaScript: klik tombol, filter data, dan validasi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F8264"/>
                </a:solidFill>
                <a:latin typeface="Calibri"/>
              </a:rPr>
              <a:t>Website UNSIKA  ·  Pertemuan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7624" y="6400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66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